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staurant_interi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1772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ИДЕЯ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37490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Restaurant Serve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59636"/>
            <a:ext cx="3749039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 err="1">
                <a:solidFill>
                  <a:srgbClr val="F3EEE8"/>
                </a:solidFill>
                <a:latin typeface="Aptos"/>
              </a:rPr>
              <a:t>Веб-сервис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F3EEE8"/>
                </a:solidFill>
                <a:latin typeface="Aptos"/>
              </a:rPr>
              <a:t>для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F3EEE8"/>
                </a:solidFill>
                <a:latin typeface="Aptos"/>
              </a:rPr>
              <a:t>поиска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F3EEE8"/>
                </a:solidFill>
                <a:latin typeface="Aptos"/>
              </a:rPr>
              <a:t>ресторанов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, </a:t>
            </a:r>
            <a:r>
              <a:rPr sz="1800" b="0" dirty="0" err="1">
                <a:solidFill>
                  <a:srgbClr val="F3EEE8"/>
                </a:solidFill>
                <a:latin typeface="Aptos"/>
              </a:rPr>
              <a:t>просмотра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F3EEE8"/>
                </a:solidFill>
                <a:latin typeface="Aptos"/>
              </a:rPr>
              <a:t>доступных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F3EEE8"/>
                </a:solidFill>
                <a:latin typeface="Aptos"/>
              </a:rPr>
              <a:t>мест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 и </a:t>
            </a:r>
            <a:r>
              <a:rPr sz="1800" b="0" dirty="0" err="1">
                <a:solidFill>
                  <a:srgbClr val="F3EEE8"/>
                </a:solidFill>
                <a:latin typeface="Aptos"/>
              </a:rPr>
              <a:t>онлайн-бронирования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F3EEE8"/>
                </a:solidFill>
                <a:latin typeface="Aptos"/>
              </a:rPr>
              <a:t>столиков</a:t>
            </a:r>
            <a:r>
              <a:rPr sz="1800" b="0" dirty="0">
                <a:solidFill>
                  <a:srgbClr val="F3EEE8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081528"/>
            <a:ext cx="713232" cy="256032"/>
          </a:xfrm>
          <a:prstGeom prst="roundRect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Angular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" y="3072384"/>
            <a:ext cx="987552" cy="256032"/>
          </a:xfrm>
          <a:prstGeom prst="roundRect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Django DRF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99335" y="3072384"/>
            <a:ext cx="1444752" cy="256032"/>
          </a:xfrm>
          <a:prstGeom prst="roundRect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PostgreSQL /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502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55629"/>
                </a:solidFill>
                <a:latin typeface="Aptos"/>
              </a:rPr>
              <a:t>Что делает проект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749808"/>
            <a:ext cx="6309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A2623"/>
                </a:solidFill>
                <a:latin typeface="Aptos"/>
              </a:rPr>
              <a:t>Одна платформа для клиента и ресторана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325880"/>
            <a:ext cx="6400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>
                <a:solidFill>
                  <a:srgbClr val="2A2623"/>
                </a:solidFill>
                <a:latin typeface="Aptos"/>
              </a:rPr>
              <a:t>• клиент ищет ресторан, выбирает дату, время и количество гостей;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>
                <a:solidFill>
                  <a:srgbClr val="2A2623"/>
                </a:solidFill>
                <a:latin typeface="Aptos"/>
              </a:rPr>
              <a:t>• система показывает доступные столы и принимает бронь;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>
                <a:solidFill>
                  <a:srgbClr val="2A2623"/>
                </a:solidFill>
                <a:latin typeface="Aptos"/>
              </a:rPr>
              <a:t>• ресторан видит новые брони и управляет ими в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743200"/>
            <a:ext cx="3657600" cy="11887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29077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55629"/>
                </a:solidFill>
                <a:latin typeface="Aptos"/>
              </a:rPr>
              <a:t>Участники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15468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A2623"/>
                </a:solidFill>
                <a:latin typeface="Aptos"/>
              </a:rPr>
              <a:t>Kazybek • Yrysbek • Edige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49300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45C"/>
                </a:solidFill>
                <a:latin typeface="Aptos"/>
              </a:rPr>
              <a:t>Имена команды указаны в README репозитория.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743200"/>
            <a:ext cx="2834640" cy="11887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25712" y="290779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55629"/>
                </a:solidFill>
                <a:latin typeface="Aptos"/>
              </a:rPr>
              <a:t>2 роли пользователей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2004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2623"/>
                </a:solidFill>
                <a:latin typeface="Aptos"/>
              </a:rPr>
              <a:t>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3200400"/>
            <a:ext cx="13258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2623"/>
                </a:solidFill>
                <a:latin typeface="Aptos"/>
              </a:rPr>
              <a:t>Restaurant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3493008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45C"/>
                </a:solidFill>
                <a:latin typeface="Aptos"/>
              </a:rPr>
              <a:t>бронирование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5560" y="349300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45C"/>
                </a:solidFill>
                <a:latin typeface="Aptos"/>
              </a:rPr>
              <a:t>управление бронями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4160520"/>
            <a:ext cx="6675120" cy="1636776"/>
          </a:xfrm>
          <a:prstGeom prst="roundRect">
            <a:avLst/>
          </a:prstGeom>
          <a:solidFill>
            <a:srgbClr val="F7F2EB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4370832"/>
            <a:ext cx="1463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55629"/>
                </a:solidFill>
                <a:latin typeface="Aptos"/>
              </a:rPr>
              <a:t>Цель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1772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2A2623"/>
                </a:solidFill>
                <a:latin typeface="Aptos"/>
              </a:rPr>
              <a:t>Сделать процесс бронирования удобнее: объединить поиск ресторанов, выбор свободных столов и управление заказами в одной системе.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431536"/>
            <a:ext cx="5943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 err="1">
                <a:solidFill>
                  <a:srgbClr val="6E645C"/>
                </a:solidFill>
                <a:latin typeface="Aptos"/>
              </a:rPr>
              <a:t>Репозиторий</a:t>
            </a:r>
            <a:r>
              <a:rPr sz="1050" b="0" dirty="0">
                <a:solidFill>
                  <a:srgbClr val="6E645C"/>
                </a:solidFill>
                <a:latin typeface="Aptos"/>
              </a:rPr>
              <a:t>: github.com/</a:t>
            </a:r>
            <a:r>
              <a:rPr sz="1050" b="0" dirty="0" err="1">
                <a:solidFill>
                  <a:srgbClr val="6E645C"/>
                </a:solidFill>
                <a:latin typeface="Aptos"/>
              </a:rPr>
              <a:t>yrysbekshadi</a:t>
            </a:r>
            <a:r>
              <a:rPr sz="1050" b="0" dirty="0">
                <a:solidFill>
                  <a:srgbClr val="6E645C"/>
                </a:solidFill>
                <a:latin typeface="Aptos"/>
              </a:rPr>
              <a:t>/Restaurant-serve-system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6245352"/>
            <a:ext cx="502920" cy="292608"/>
          </a:xfrm>
          <a:prstGeom prst="roundRect">
            <a:avLst/>
          </a:prstGeom>
          <a:solidFill>
            <a:srgbClr val="855629"/>
          </a:solidFill>
          <a:ln>
            <a:solidFill>
              <a:srgbClr val="855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11480"/>
            <a:ext cx="4114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623"/>
                </a:solidFill>
                <a:latin typeface="Aptos"/>
              </a:rPr>
              <a:t>Архитектура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45C"/>
                </a:solidFill>
                <a:latin typeface="Aptos"/>
              </a:rPr>
              <a:t>Angular pages/services → Django API → database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2834640" cy="3246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7556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A2623"/>
                </a:solidFill>
                <a:latin typeface="Aptos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5740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55629"/>
                </a:solidFill>
                <a:latin typeface="Aptos"/>
              </a:rPr>
              <a:t>Angular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95728"/>
            <a:ext cx="248716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pages: home, restaurants, detail, my-reservations, dashboard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routing между страницами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services вызывают API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формы и UI для клиента и ресторана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554480"/>
            <a:ext cx="2834640" cy="3246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7556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A2623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5740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55629"/>
                </a:solidFill>
                <a:latin typeface="Aptos"/>
              </a:rPr>
              <a:t>Django 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95728"/>
            <a:ext cx="248716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apps: accounts, restaurants, reservations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serializers подготавливают JSON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views/urls отдают endpoints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логика доступных столов и броней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64424" y="1554480"/>
            <a:ext cx="2834640" cy="3246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65592" y="17556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A2623"/>
                </a:solidFill>
                <a:latin typeface="Aptos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205740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55629"/>
                </a:solidFill>
                <a:latin typeface="Aptos"/>
              </a:rPr>
              <a:t>SQLite / PostgreSQL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2395728"/>
            <a:ext cx="2487168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хранение пользователей и ролей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рестораны, столы, меню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резервации и статусы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>
                <a:solidFill>
                  <a:srgbClr val="2A2623"/>
                </a:solidFill>
                <a:latin typeface="Aptos"/>
              </a:rPr>
              <a:t>• история данных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11880" y="3108960"/>
            <a:ext cx="457200" cy="0"/>
          </a:xfrm>
          <a:prstGeom prst="line">
            <a:avLst/>
          </a:prstGeom>
          <a:ln w="30480">
            <a:solidFill>
              <a:srgbClr val="C18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>
            <a:off x="3959352" y="2971800"/>
            <a:ext cx="256032" cy="292608"/>
          </a:xfrm>
          <a:prstGeom prst="chevron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7251192" y="3108960"/>
            <a:ext cx="457200" cy="0"/>
          </a:xfrm>
          <a:prstGeom prst="line">
            <a:avLst/>
          </a:prstGeom>
          <a:ln w="30480">
            <a:solidFill>
              <a:srgbClr val="C18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7598664" y="2971800"/>
            <a:ext cx="256032" cy="292608"/>
          </a:xfrm>
          <a:prstGeom prst="chevron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383280" y="5166360"/>
            <a:ext cx="5394960" cy="685800"/>
          </a:xfrm>
          <a:prstGeom prst="roundRect">
            <a:avLst/>
          </a:prstGeom>
          <a:solidFill>
            <a:srgbClr val="2A2623"/>
          </a:solidFill>
          <a:ln w="15240">
            <a:solidFill>
              <a:srgbClr val="2A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11880" y="5376672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JWT / Auth / Session / CSRF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51663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EBE6DF"/>
                </a:solidFill>
                <a:latin typeface="Aptos"/>
              </a:rPr>
              <a:t>связывает</a:t>
            </a:r>
            <a:r>
              <a:rPr sz="1100" b="0" dirty="0">
                <a:solidFill>
                  <a:srgbClr val="EBE6DF"/>
                </a:solidFill>
                <a:latin typeface="Aptos"/>
              </a:rPr>
              <a:t> frontend и backend </a:t>
            </a:r>
            <a:r>
              <a:rPr sz="1100" b="0" dirty="0" err="1">
                <a:solidFill>
                  <a:srgbClr val="EBE6DF"/>
                </a:solidFill>
                <a:latin typeface="Aptos"/>
              </a:rPr>
              <a:t>при</a:t>
            </a:r>
            <a:r>
              <a:rPr sz="1100" b="0" dirty="0">
                <a:solidFill>
                  <a:srgbClr val="EBE6DF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EBE6DF"/>
                </a:solidFill>
                <a:latin typeface="Aptos"/>
              </a:rPr>
              <a:t>регистрации</a:t>
            </a:r>
            <a:r>
              <a:rPr sz="1100" b="0" dirty="0">
                <a:solidFill>
                  <a:srgbClr val="EBE6DF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EBE6DF"/>
                </a:solidFill>
                <a:latin typeface="Aptos"/>
              </a:rPr>
              <a:t>входе</a:t>
            </a:r>
            <a:r>
              <a:rPr sz="1100" b="0" dirty="0">
                <a:solidFill>
                  <a:srgbClr val="EBE6DF"/>
                </a:solidFill>
                <a:latin typeface="Aptos"/>
              </a:rPr>
              <a:t> и </a:t>
            </a:r>
            <a:r>
              <a:rPr sz="1100" b="0" dirty="0" err="1">
                <a:solidFill>
                  <a:srgbClr val="EBE6DF"/>
                </a:solidFill>
                <a:latin typeface="Aptos"/>
              </a:rPr>
              <a:t>работе</a:t>
            </a:r>
            <a:r>
              <a:rPr sz="1100" b="0" dirty="0">
                <a:solidFill>
                  <a:srgbClr val="EBE6DF"/>
                </a:solidFill>
                <a:latin typeface="Aptos"/>
              </a:rPr>
              <a:t> с </a:t>
            </a:r>
            <a:r>
              <a:rPr sz="1100" b="0" dirty="0" err="1">
                <a:solidFill>
                  <a:srgbClr val="EBE6DF"/>
                </a:solidFill>
                <a:latin typeface="Aptos"/>
              </a:rPr>
              <a:t>защищёнными</a:t>
            </a:r>
            <a:r>
              <a:rPr sz="1100" b="0" dirty="0">
                <a:solidFill>
                  <a:srgbClr val="EBE6DF"/>
                </a:solidFill>
                <a:latin typeface="Aptos"/>
              </a:rPr>
              <a:t> endpoint-</a:t>
            </a:r>
            <a:r>
              <a:rPr sz="1100" b="0" dirty="0" err="1">
                <a:solidFill>
                  <a:srgbClr val="EBE6DF"/>
                </a:solidFill>
                <a:latin typeface="Aptos"/>
              </a:rPr>
              <a:t>ами</a:t>
            </a:r>
            <a:endParaRPr sz="1100" b="0" dirty="0">
              <a:solidFill>
                <a:srgbClr val="EBE6DF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20040" y="6245352"/>
            <a:ext cx="502920" cy="292608"/>
          </a:xfrm>
          <a:prstGeom prst="roundRect">
            <a:avLst/>
          </a:prstGeom>
          <a:solidFill>
            <a:srgbClr val="855629"/>
          </a:solidFill>
          <a:ln>
            <a:solidFill>
              <a:srgbClr val="855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1148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623"/>
                </a:solidFill>
                <a:latin typeface="Aptos"/>
              </a:rPr>
              <a:t>Как закрыты требования проекта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063240" cy="1170432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4671" y="1600200"/>
            <a:ext cx="256032" cy="256032"/>
          </a:xfrm>
          <a:prstGeom prst="round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45336"/>
            <a:ext cx="2423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623"/>
                </a:solidFill>
                <a:latin typeface="Aptos"/>
              </a:rPr>
              <a:t>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11095"/>
            <a:ext cx="27340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E645C"/>
                </a:solidFill>
                <a:latin typeface="Aptos"/>
              </a:rPr>
              <a:t>В backend есть apps accounts, restaurants и reservations; внутри находятся models.py для сущностей системы.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063240" cy="1170432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5112" y="1600200"/>
            <a:ext cx="256032" cy="256032"/>
          </a:xfrm>
          <a:prstGeom prst="round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545336"/>
            <a:ext cx="2423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623"/>
                </a:solidFill>
                <a:latin typeface="Aptos"/>
              </a:rPr>
              <a:t>Serializers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1911095"/>
            <a:ext cx="27340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E645C"/>
                </a:solidFill>
                <a:latin typeface="Aptos"/>
              </a:rPr>
              <a:t>serializers.py преобразует модели в JSON и валидирует данные для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417320"/>
            <a:ext cx="3520440" cy="1170432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45552" y="1600200"/>
            <a:ext cx="256032" cy="256032"/>
          </a:xfrm>
          <a:prstGeom prst="round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45336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623"/>
                </a:solidFill>
                <a:latin typeface="Aptos"/>
              </a:rPr>
              <a:t>Views + URLs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1911095"/>
            <a:ext cx="31912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E645C"/>
                </a:solidFill>
                <a:latin typeface="Aptos"/>
              </a:rPr>
              <a:t>views.py и urls.py отдают endpoints для регистрации, ресторанов, свободных столов и броней.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26080"/>
            <a:ext cx="3063240" cy="1170432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1" y="3108960"/>
            <a:ext cx="256032" cy="256032"/>
          </a:xfrm>
          <a:prstGeom prst="round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54096"/>
            <a:ext cx="2423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623"/>
                </a:solidFill>
                <a:latin typeface="Aptos"/>
              </a:rPr>
              <a:t>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419856"/>
            <a:ext cx="27340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E645C"/>
                </a:solidFill>
                <a:latin typeface="Aptos"/>
              </a:rPr>
              <a:t>Есть named routes: home, restaurants, restaurant-detail, my-reservations, restaurant-dashboard, login, register.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2926080"/>
            <a:ext cx="3063240" cy="1170432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25112" y="3108960"/>
            <a:ext cx="256032" cy="256032"/>
          </a:xfrm>
          <a:prstGeom prst="round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054096"/>
            <a:ext cx="2423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623"/>
                </a:solidFill>
                <a:latin typeface="Aptos"/>
              </a:rPr>
              <a:t>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419856"/>
            <a:ext cx="27340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E645C"/>
                </a:solidFill>
                <a:latin typeface="Aptos"/>
              </a:rPr>
              <a:t>Angular использует auth.service.ts, owner.service.ts, reservation.service.ts и restaurant.service.ts.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2926080"/>
            <a:ext cx="3520440" cy="1170432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45552" y="3108960"/>
            <a:ext cx="256032" cy="256032"/>
          </a:xfrm>
          <a:prstGeom prst="round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054096"/>
            <a:ext cx="2880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623"/>
                </a:solidFill>
                <a:latin typeface="Aptos"/>
              </a:rPr>
              <a:t>Postman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3419856"/>
            <a:ext cx="319125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E645C"/>
                </a:solidFill>
                <a:latin typeface="Aptos"/>
              </a:rPr>
              <a:t>В backend есть папка postman, значит API можно тестировать отдельно от frontend.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34840"/>
            <a:ext cx="4480560" cy="1170432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4671" y="4617720"/>
            <a:ext cx="256032" cy="256032"/>
          </a:xfrm>
          <a:prstGeom prst="round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562855"/>
            <a:ext cx="3840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623"/>
                </a:solidFill>
                <a:latin typeface="Aptos"/>
              </a:rPr>
              <a:t>Forms / ngModel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4928616"/>
            <a:ext cx="415137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E645C"/>
                </a:solidFill>
                <a:latin typeface="Aptos"/>
              </a:rPr>
              <a:t>На странице restaurants добавлены 4 form controls: search, district, cuisine и only open now.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0" y="4434840"/>
            <a:ext cx="5715000" cy="1170432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650992" y="4617720"/>
            <a:ext cx="256032" cy="256032"/>
          </a:xfrm>
          <a:prstGeom prst="roundRect">
            <a:avLst/>
          </a:prstGeom>
          <a:solidFill>
            <a:srgbClr val="4A7C59"/>
          </a:solidFill>
          <a:ln>
            <a:solidFill>
              <a:srgbClr val="4A7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562855"/>
            <a:ext cx="5074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A2623"/>
                </a:solidFill>
                <a:latin typeface="Aptos"/>
              </a:rPr>
              <a:t>API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0992" y="4928616"/>
            <a:ext cx="538581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E645C"/>
                </a:solidFill>
                <a:latin typeface="Aptos"/>
              </a:rPr>
              <a:t>Клики и формы вызывают запросы: список ресторанов, detail, available tables, create/update reservation.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6245352"/>
            <a:ext cx="502920" cy="292608"/>
          </a:xfrm>
          <a:prstGeom prst="roundRect">
            <a:avLst/>
          </a:prstGeom>
          <a:solidFill>
            <a:srgbClr val="855629"/>
          </a:solidFill>
          <a:ln>
            <a:solidFill>
              <a:srgbClr val="855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1148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A2623"/>
                </a:solidFill>
                <a:latin typeface="Aptos"/>
              </a:rPr>
              <a:t>Скриншоты /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45C"/>
                </a:solidFill>
                <a:latin typeface="Aptos"/>
              </a:rPr>
              <a:t>Регистрация → поиск → бронь → dashboard ресторана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2743200" cy="960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72184"/>
            <a:ext cx="384048" cy="384048"/>
          </a:xfrm>
          <a:prstGeom prst="ellipse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3560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2A2623"/>
                </a:solidFill>
                <a:latin typeface="Aptos"/>
              </a:rPr>
              <a:t>Регистрация /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6E645C"/>
                </a:solidFill>
                <a:latin typeface="Aptos"/>
              </a:rPr>
              <a:t>Пользователь создает аккаунт и выбирает свою роль.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1024" y="1325880"/>
            <a:ext cx="2743200" cy="960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767328" y="1472184"/>
            <a:ext cx="384048" cy="384048"/>
          </a:xfrm>
          <a:prstGeom prst="ellipse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2816" y="143560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2A2623"/>
                </a:solidFill>
                <a:latin typeface="Aptos"/>
              </a:rPr>
              <a:t>Поиск ресторана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6" y="1920240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6E645C"/>
                </a:solidFill>
                <a:latin typeface="Aptos"/>
              </a:rPr>
              <a:t>Список ресторанов, фильтры и переход на detail page.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25880"/>
            <a:ext cx="2743200" cy="960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29984" y="1472184"/>
            <a:ext cx="384048" cy="384048"/>
          </a:xfrm>
          <a:prstGeom prst="ellipse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143560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2A2623"/>
                </a:solidFill>
                <a:latin typeface="Aptos"/>
              </a:rPr>
              <a:t>Бронирование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920240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6E645C"/>
                </a:solidFill>
                <a:latin typeface="Aptos"/>
              </a:rPr>
              <a:t>Выбор даты, времени, гостей и свободного стола.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46336" y="1325880"/>
            <a:ext cx="2743200" cy="96012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92640" y="1472184"/>
            <a:ext cx="384048" cy="384048"/>
          </a:xfrm>
          <a:prstGeom prst="ellipse">
            <a:avLst/>
          </a:prstGeom>
          <a:solidFill>
            <a:srgbClr val="C1803F"/>
          </a:solidFill>
          <a:ln>
            <a:solidFill>
              <a:srgbClr val="C18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8128" y="1435608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50" b="1">
                <a:solidFill>
                  <a:srgbClr val="2A2623"/>
                </a:solidFill>
                <a:latin typeface="Aptos"/>
              </a:rPr>
              <a:t>Dashboard ресторана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1920240"/>
            <a:ext cx="24140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6E645C"/>
                </a:solidFill>
                <a:latin typeface="Aptos"/>
              </a:rPr>
              <a:t>Ресторан получает бронь и подтверждает или отменяет её.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46120" y="1801368"/>
            <a:ext cx="256032" cy="0"/>
          </a:xfrm>
          <a:prstGeom prst="line">
            <a:avLst/>
          </a:prstGeom>
          <a:ln w="25400">
            <a:solidFill>
              <a:srgbClr val="855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3401568" y="1682496"/>
            <a:ext cx="201168" cy="237744"/>
          </a:xfrm>
          <a:prstGeom prst="chevron">
            <a:avLst/>
          </a:prstGeom>
          <a:solidFill>
            <a:srgbClr val="855629"/>
          </a:solidFill>
          <a:ln>
            <a:solidFill>
              <a:srgbClr val="855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6208776" y="1801368"/>
            <a:ext cx="256032" cy="0"/>
          </a:xfrm>
          <a:prstGeom prst="line">
            <a:avLst/>
          </a:prstGeom>
          <a:ln w="25400">
            <a:solidFill>
              <a:srgbClr val="855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evron 22"/>
          <p:cNvSpPr/>
          <p:nvPr/>
        </p:nvSpPr>
        <p:spPr>
          <a:xfrm>
            <a:off x="6364224" y="1682496"/>
            <a:ext cx="201168" cy="237744"/>
          </a:xfrm>
          <a:prstGeom prst="chevron">
            <a:avLst/>
          </a:prstGeom>
          <a:solidFill>
            <a:srgbClr val="855629"/>
          </a:solidFill>
          <a:ln>
            <a:solidFill>
              <a:srgbClr val="855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9171432" y="1801368"/>
            <a:ext cx="256032" cy="0"/>
          </a:xfrm>
          <a:prstGeom prst="line">
            <a:avLst/>
          </a:prstGeom>
          <a:ln w="25400">
            <a:solidFill>
              <a:srgbClr val="8556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evron 24"/>
          <p:cNvSpPr/>
          <p:nvPr/>
        </p:nvSpPr>
        <p:spPr>
          <a:xfrm>
            <a:off x="9326880" y="1682496"/>
            <a:ext cx="201168" cy="237744"/>
          </a:xfrm>
          <a:prstGeom prst="chevron">
            <a:avLst/>
          </a:prstGeom>
          <a:solidFill>
            <a:srgbClr val="855629"/>
          </a:solidFill>
          <a:ln>
            <a:solidFill>
              <a:srgbClr val="855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8368" y="2651760"/>
            <a:ext cx="5486400" cy="3200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868680" y="28163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55629"/>
                </a:solidFill>
                <a:latin typeface="Aptos"/>
              </a:rPr>
              <a:t>UI mockup / wireframe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651760"/>
            <a:ext cx="5193792" cy="3200400"/>
          </a:xfrm>
          <a:prstGeom prst="roundRect">
            <a:avLst/>
          </a:prstGeom>
          <a:solidFill>
            <a:srgbClr val="FFFCF7"/>
          </a:solidFill>
          <a:ln w="15240">
            <a:solidFill>
              <a:srgbClr val="DCC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2816352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55629"/>
                </a:solidFill>
                <a:latin typeface="Aptos"/>
              </a:rPr>
              <a:t>Что говорить на защите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3127248"/>
            <a:ext cx="4572000" cy="17778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dirty="0">
                <a:solidFill>
                  <a:srgbClr val="2A2623"/>
                </a:solidFill>
                <a:latin typeface="Aptos"/>
              </a:rPr>
              <a:t>•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сначала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пользователь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регистрируется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или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входит</a:t>
            </a:r>
            <a:r>
              <a:rPr sz="1300" dirty="0">
                <a:solidFill>
                  <a:srgbClr val="2A2623"/>
                </a:solidFill>
                <a:latin typeface="Aptos"/>
              </a:rPr>
              <a:t> в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систему</a:t>
            </a:r>
            <a:r>
              <a:rPr sz="1300" dirty="0">
                <a:solidFill>
                  <a:srgbClr val="2A2623"/>
                </a:solidFill>
                <a:latin typeface="Aptos"/>
              </a:rPr>
              <a:t>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dirty="0">
                <a:solidFill>
                  <a:srgbClr val="2A2623"/>
                </a:solidFill>
                <a:latin typeface="Aptos"/>
              </a:rPr>
              <a:t>•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потом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открывает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список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ресторанов</a:t>
            </a:r>
            <a:endParaRPr lang="ru-RU" sz="1300" dirty="0">
              <a:solidFill>
                <a:srgbClr val="2A2623"/>
              </a:solidFill>
              <a:latin typeface="Aptos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dirty="0">
                <a:solidFill>
                  <a:srgbClr val="2A2623"/>
                </a:solidFill>
                <a:latin typeface="Aptos"/>
              </a:rPr>
              <a:t>•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далее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переходит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на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страницу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ресторана</a:t>
            </a:r>
            <a:r>
              <a:rPr sz="1300" dirty="0">
                <a:solidFill>
                  <a:srgbClr val="2A2623"/>
                </a:solidFill>
                <a:latin typeface="Aptos"/>
              </a:rPr>
              <a:t>,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проверяет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свободные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столы</a:t>
            </a:r>
            <a:r>
              <a:rPr sz="1300" dirty="0">
                <a:solidFill>
                  <a:srgbClr val="2A2623"/>
                </a:solidFill>
                <a:latin typeface="Aptos"/>
              </a:rPr>
              <a:t> и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отправляет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бронь</a:t>
            </a:r>
            <a:r>
              <a:rPr sz="1300" dirty="0">
                <a:solidFill>
                  <a:srgbClr val="2A2623"/>
                </a:solidFill>
                <a:latin typeface="Aptos"/>
              </a:rPr>
              <a:t>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dirty="0">
                <a:solidFill>
                  <a:srgbClr val="2A2623"/>
                </a:solidFill>
                <a:latin typeface="Aptos"/>
              </a:rPr>
              <a:t>•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после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этого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ресторан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видит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бронь</a:t>
            </a:r>
            <a:r>
              <a:rPr sz="1300" dirty="0">
                <a:solidFill>
                  <a:srgbClr val="2A2623"/>
                </a:solidFill>
                <a:latin typeface="Aptos"/>
              </a:rPr>
              <a:t> в dashboard и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меняет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её</a:t>
            </a:r>
            <a:r>
              <a:rPr sz="1300" dirty="0">
                <a:solidFill>
                  <a:srgbClr val="2A2623"/>
                </a:solidFill>
                <a:latin typeface="Aptos"/>
              </a:rPr>
              <a:t> </a:t>
            </a:r>
            <a:r>
              <a:rPr sz="1300" dirty="0" err="1">
                <a:solidFill>
                  <a:srgbClr val="2A2623"/>
                </a:solidFill>
                <a:latin typeface="Aptos"/>
              </a:rPr>
              <a:t>статус</a:t>
            </a:r>
            <a:r>
              <a:rPr sz="1300" dirty="0">
                <a:solidFill>
                  <a:srgbClr val="2A2623"/>
                </a:solidFill>
                <a:latin typeface="Aptos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5614416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E645C"/>
                </a:solidFill>
                <a:latin typeface="Aptos"/>
              </a:rPr>
              <a:t>Изображения на слайде — демонстрационные mockup/wireframe.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6245352"/>
            <a:ext cx="502920" cy="292608"/>
          </a:xfrm>
          <a:prstGeom prst="roundRect">
            <a:avLst/>
          </a:prstGeom>
          <a:solidFill>
            <a:srgbClr val="855629"/>
          </a:solidFill>
          <a:ln>
            <a:solidFill>
              <a:srgbClr val="855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FAB05C5-9E09-D5D7-54FF-EB92DE177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72384"/>
            <a:ext cx="1954784" cy="95167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211333C-92D1-1999-5094-9AA539045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896" y="3072384"/>
            <a:ext cx="1954784" cy="95885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56BD5CEB-60BE-F5E6-DB5D-777D8FCF7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050097"/>
            <a:ext cx="1913520" cy="951671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E441A598-AD05-1427-0040-1528FF590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896" y="4024055"/>
            <a:ext cx="1967987" cy="9777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521</Words>
  <Application>Microsoft Office PowerPoint</Application>
  <PresentationFormat>Широкоэкранный</PresentationFormat>
  <Paragraphs>94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Yrysbek Shadi</cp:lastModifiedBy>
  <cp:revision>2</cp:revision>
  <dcterms:created xsi:type="dcterms:W3CDTF">2013-01-27T09:14:16Z</dcterms:created>
  <dcterms:modified xsi:type="dcterms:W3CDTF">2026-04-23T04:45:57Z</dcterms:modified>
  <cp:category/>
</cp:coreProperties>
</file>